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"/>
            <a:ext cx="310896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56616"/>
            <a:ext cx="146304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62179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Microsoft YaHei"/>
              </a:rPr>
              <a:t>客户反馈补充证据与整改闭环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7772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Microsoft YaHei"/>
              </a:rPr>
              <a:t>补充报价条款、首次沟通与客户最终反馈，明确问题从“沟通是否发生”转为“回收闭环是否前置锁定”。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10312"/>
            <a:ext cx="1261872" cy="413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6528816"/>
            <a:ext cx="29718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Microsoft YaHei"/>
              </a:rPr>
              <a:t>版权所有 © 2025 Capchem.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3824" y="6574536"/>
            <a:ext cx="7973568" cy="10972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82528" y="6428232"/>
            <a:ext cx="16459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86069"/>
                </a:solidFill>
                <a:latin typeface="Microsoft YaHe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188720"/>
            <a:ext cx="109728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993392"/>
            <a:ext cx="9418320" cy="2286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1371600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4月22日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664208"/>
            <a:ext cx="1051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报价阶段</a:t>
            </a:r>
          </a:p>
        </p:txBody>
      </p:sp>
      <p:sp>
        <p:nvSpPr>
          <p:cNvPr id="14" name="Oval 13"/>
          <p:cNvSpPr/>
          <p:nvPr/>
        </p:nvSpPr>
        <p:spPr>
          <a:xfrm>
            <a:off x="1609344" y="18470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2286000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"/>
              </a:rPr>
              <a:t>风险条款已提示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371600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5月18日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664208"/>
            <a:ext cx="1051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首次沟通</a:t>
            </a:r>
          </a:p>
        </p:txBody>
      </p:sp>
      <p:sp>
        <p:nvSpPr>
          <p:cNvPr id="18" name="Oval 17"/>
          <p:cNvSpPr/>
          <p:nvPr/>
        </p:nvSpPr>
        <p:spPr>
          <a:xfrm>
            <a:off x="4828032" y="18470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286000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"/>
              </a:rPr>
              <a:t>回收安排节点偏晚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1371600"/>
            <a:ext cx="10972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Microsoft YaHei"/>
              </a:rPr>
              <a:t>5月21日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1664208"/>
            <a:ext cx="1051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客户确认</a:t>
            </a:r>
          </a:p>
        </p:txBody>
      </p:sp>
      <p:sp>
        <p:nvSpPr>
          <p:cNvPr id="22" name="Oval 21"/>
          <p:cNvSpPr/>
          <p:nvPr/>
        </p:nvSpPr>
        <p:spPr>
          <a:xfrm>
            <a:off x="8101583" y="1847088"/>
            <a:ext cx="347472" cy="3474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3" y="2286000"/>
            <a:ext cx="1554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Microsoft YaHei"/>
              </a:rPr>
              <a:t>空桶已处理，无法追回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4712" y="2834640"/>
            <a:ext cx="2834640" cy="804672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ap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971800"/>
            <a:ext cx="1508760" cy="127090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315968" y="2834640"/>
            <a:ext cx="2834640" cy="804672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ape-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2971800"/>
            <a:ext cx="1508760" cy="314991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543800" y="2834640"/>
            <a:ext cx="2834640" cy="804672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7E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ape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2971800"/>
            <a:ext cx="1508760" cy="49096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60704" y="4352544"/>
            <a:ext cx="841248" cy="31089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复盘结论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4334256"/>
            <a:ext cx="8732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本次问题不是“没有沟通”，而是报价风险条款未进入执行闭环，且沟通节点明显滞后。整改重点前移至“发货前确权、测试中跟踪、测试后限时回收”。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"/>
            <a:ext cx="310896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56616"/>
            <a:ext cx="146304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62179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Microsoft YaHei"/>
              </a:rPr>
              <a:t>复盘总结：个人识别不足与机制补强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7772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Microsoft YaHei"/>
              </a:rPr>
              <a:t>按老板反馈弱化个人批判，聚焦风险识别、经验不足与跨部门协同机制。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10312"/>
            <a:ext cx="1261872" cy="413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6528816"/>
            <a:ext cx="29718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Microsoft YaHei"/>
              </a:rPr>
              <a:t>版权所有 © 2025 Capchem.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3824" y="6574536"/>
            <a:ext cx="7973568" cy="10972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82528" y="6428232"/>
            <a:ext cx="16459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86069"/>
                </a:solidFill>
                <a:latin typeface="Microsoft YaHe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280160"/>
            <a:ext cx="5138928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4808" y="1280160"/>
            <a:ext cx="5138928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1581912"/>
            <a:ext cx="841248" cy="31089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问题表述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103120"/>
            <a:ext cx="425196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YaHei"/>
              </a:rPr>
              <a:t>本次项目造成 44 个空桶报废及 8 万元直接损失，暴露出本人对测试空桶回收风险识别不充分，对客户回收节点和内部协同机制预判不足，导致跟进节奏滞后。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83280"/>
            <a:ext cx="4251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YaHei"/>
              </a:rPr>
              <a:t>因以往测试流程中较少涉及空桶回收要求，本人沿用既有测试跟进经验，对本次空桶回收的特殊性和关键风险节点识别不足。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581912"/>
            <a:ext cx="841248" cy="31089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改进方向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2103120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95744" y="2057400"/>
            <a:ext cx="4069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前置识别：发货前确认空桶归属、暂存、回收时限及赔付条款。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2761487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2715768"/>
            <a:ext cx="4069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过程跟踪：测试期间建立节点台账，避免仅依赖单点转述。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3419856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3374136"/>
            <a:ext cx="4069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协同补强：销售、商务、厂务/仓库信息同步，关键事项书面留痕。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4078224"/>
            <a:ext cx="155448" cy="15544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4032504"/>
            <a:ext cx="406908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审核空间：重大风险节点提交部门复核，减少个人经验判断偏差。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4910328"/>
            <a:ext cx="10040112" cy="16459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550408"/>
            <a:ext cx="79552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Microsoft YaHei"/>
              </a:rPr>
              <a:t>表述基调：承认识别不足与跟进滞后，但将整改落点放在流程闭环、部门协同与节点审核。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"/>
            <a:ext cx="310896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56616"/>
            <a:ext cx="146304" cy="411480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93192"/>
            <a:ext cx="62179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Microsoft YaHei"/>
              </a:rPr>
              <a:t>后续工作计划：商务协同与损失挽回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13232"/>
            <a:ext cx="7772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Microsoft YaHei"/>
              </a:rPr>
              <a:t>把“损失挽回计划”融入正式工作机制，避免底部硬塞式新增。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10312"/>
            <a:ext cx="1261872" cy="413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6528816"/>
            <a:ext cx="29718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Microsoft YaHei"/>
              </a:rPr>
              <a:t>版权所有 © 2025 Capchem.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3824" y="6574536"/>
            <a:ext cx="7973568" cy="10972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82528" y="6428232"/>
            <a:ext cx="164592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586069"/>
                </a:solidFill>
                <a:latin typeface="Microsoft YaHe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150876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43584" y="1801368"/>
            <a:ext cx="530352" cy="5303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606040"/>
            <a:ext cx="1783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1F2937"/>
                </a:solidFill>
                <a:latin typeface="Microsoft YaHei"/>
              </a:rPr>
              <a:t>发货前确权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08960"/>
            <a:ext cx="178308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销售牵头，商务协同客户确认空桶回收、赔付条款、回收窗口及对接人。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50876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05072" y="1801368"/>
            <a:ext cx="530352" cy="5303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606040"/>
            <a:ext cx="1783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1F2937"/>
                </a:solidFill>
                <a:latin typeface="Microsoft YaHei"/>
              </a:rPr>
              <a:t>5个工作日反馈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108960"/>
            <a:ext cx="178308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关键事项发出后 5 个工作日内需取得客户回复；未回复即升级联动跟进。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50876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59" y="1801368"/>
            <a:ext cx="530352" cy="5303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7" y="2606040"/>
            <a:ext cx="1783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1F2937"/>
                </a:solidFill>
                <a:latin typeface="Microsoft YaHei"/>
              </a:rPr>
              <a:t>台账与预警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3108960"/>
            <a:ext cx="178308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建立测试物料与空桶回收台账，测试完成后 3 个工作日内核对空桶状态。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1508760"/>
            <a:ext cx="2423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28048" y="1801368"/>
            <a:ext cx="530352" cy="53035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606040"/>
            <a:ext cx="1783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1F2937"/>
                </a:solidFill>
                <a:latin typeface="Microsoft YaHei"/>
              </a:rPr>
              <a:t>损失挽回计划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3108960"/>
            <a:ext cx="178308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Microsoft YaHei"/>
              </a:rPr>
              <a:t>结合三季度大批量测试，通过价格策略和商务条款，争取抵回 8 万元损失。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892040"/>
            <a:ext cx="8211312" cy="1828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93392" y="4754880"/>
            <a:ext cx="292608" cy="292608"/>
          </a:xfrm>
          <a:prstGeom prst="ellipse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82496" y="5184648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发货前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4754880"/>
            <a:ext cx="292608" cy="292608"/>
          </a:xfrm>
          <a:prstGeom prst="ellipse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6824" y="5184648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测试中</a:t>
            </a:r>
          </a:p>
        </p:txBody>
      </p:sp>
      <p:sp>
        <p:nvSpPr>
          <p:cNvPr id="31" name="Oval 30"/>
          <p:cNvSpPr/>
          <p:nvPr/>
        </p:nvSpPr>
        <p:spPr>
          <a:xfrm>
            <a:off x="7251192" y="4754880"/>
            <a:ext cx="292608" cy="292608"/>
          </a:xfrm>
          <a:prstGeom prst="ellipse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0296" y="5184648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测试后</a:t>
            </a:r>
          </a:p>
        </p:txBody>
      </p:sp>
      <p:sp>
        <p:nvSpPr>
          <p:cNvPr id="33" name="Oval 32"/>
          <p:cNvSpPr/>
          <p:nvPr/>
        </p:nvSpPr>
        <p:spPr>
          <a:xfrm>
            <a:off x="9893808" y="4754880"/>
            <a:ext cx="292608" cy="292608"/>
          </a:xfrm>
          <a:prstGeom prst="ellipse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82912" y="5184648"/>
            <a:ext cx="914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86069"/>
                </a:solidFill>
                <a:latin typeface="Microsoft YaHei"/>
              </a:rPr>
              <a:t>商务回收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5687568"/>
            <a:ext cx="6766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Microsoft YaHei"/>
              </a:rPr>
              <a:t>原则：风险条款前置、客户反馈限时、逾期协同升级、损失挽回纳入后续商务方案。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