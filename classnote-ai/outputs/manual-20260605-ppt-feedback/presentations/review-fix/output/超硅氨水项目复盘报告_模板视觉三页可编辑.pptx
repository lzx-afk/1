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310896" cy="420624"/>
          </a:xfrm>
          <a:prstGeom prst="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365760"/>
            <a:ext cx="137160" cy="420624"/>
          </a:xfrm>
          <a:prstGeom prst="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676656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2937"/>
                </a:solidFill>
                <a:latin typeface="微软雅黑" panose="020B0503020204020204" charset="-122"/>
              </a:rPr>
              <a:t>四、问题与整改措施</a:t>
            </a:r>
            <a:endParaRPr sz="20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768096"/>
            <a:ext cx="7863840" cy="1549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endParaRPr sz="85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92608"/>
            <a:ext cx="1143000" cy="372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6556248"/>
            <a:ext cx="292608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7"/>
                </a:solidFill>
                <a:latin typeface="微软雅黑" panose="020B0503020204020204" charset="-122"/>
              </a:rPr>
              <a:t>版权所有 © 2025 Capchem. All Rights Reserved.</a:t>
            </a:r>
            <a:endParaRPr sz="8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27248" y="6620256"/>
            <a:ext cx="8046720" cy="9144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28832" y="6437376"/>
            <a:ext cx="146304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5D6570"/>
                </a:solidFill>
                <a:latin typeface="微软雅黑" panose="020B0503020204020204" charset="-122"/>
              </a:rPr>
              <a:t>6</a:t>
            </a:r>
            <a:endParaRPr sz="85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1143000"/>
            <a:ext cx="8997696" cy="411480"/>
          </a:xfrm>
          <a:prstGeom prst="rect">
            <a:avLst/>
          </a:prstGeom>
          <a:solidFill>
            <a:srgbClr val="004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0048" y="1143000"/>
            <a:ext cx="9144" cy="370332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84648" y="1143000"/>
            <a:ext cx="9144" cy="370332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1261872"/>
            <a:ext cx="1764792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问题点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79776" y="1261872"/>
            <a:ext cx="2295144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调整后原因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94376" y="1261872"/>
            <a:ext cx="4279392" cy="20116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整改动作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" y="1554480"/>
            <a:ext cx="899769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0048" y="155448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4648" y="155448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1819656"/>
            <a:ext cx="274320" cy="274320"/>
          </a:xfrm>
          <a:prstGeom prst="ellipse">
            <a:avLst/>
          </a:prstGeom>
          <a:solidFill>
            <a:srgbClr val="65B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1856231"/>
            <a:ext cx="109728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25880" y="1837943"/>
            <a:ext cx="1353312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</a:rPr>
              <a:t>小量测试闭环不足</a:t>
            </a:r>
            <a:endParaRPr sz="125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16352" y="1719072"/>
            <a:ext cx="22402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测试结束后，对空桶回收风险节点识别不充分，未及时形成回收确认。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21808" y="1719072"/>
            <a:ext cx="40690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测试完成后3个工作日内核对空桶状态，建立个人跟进台账。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85800" y="2377440"/>
            <a:ext cx="8997696" cy="822960"/>
          </a:xfrm>
          <a:prstGeom prst="rect">
            <a:avLst/>
          </a:prstGeom>
          <a:solidFill>
            <a:srgbClr val="F9FCFE"/>
          </a:solidFill>
          <a:ln w="635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70048" y="237744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84648" y="237744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2642616"/>
            <a:ext cx="274320" cy="274320"/>
          </a:xfrm>
          <a:prstGeom prst="ellipse">
            <a:avLst/>
          </a:prstGeom>
          <a:solidFill>
            <a:srgbClr val="65B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2679192"/>
            <a:ext cx="109728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25880" y="2660904"/>
            <a:ext cx="1353312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</a:rPr>
              <a:t>中量测试跟进滞后</a:t>
            </a:r>
            <a:endParaRPr sz="125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16352" y="2542032"/>
            <a:ext cx="22402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沿用以往测试经验，对本次空桶回收特殊性预判不足，沟通节点偏晚。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21808" y="2542032"/>
            <a:ext cx="40690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发货前完成客户采购、厂务、仓库三方邮件确权，锁定回收窗口。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85800" y="3200400"/>
            <a:ext cx="8997696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70048" y="320040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84648" y="320040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" y="3465576"/>
            <a:ext cx="274320" cy="274320"/>
          </a:xfrm>
          <a:prstGeom prst="ellipse">
            <a:avLst/>
          </a:prstGeom>
          <a:solidFill>
            <a:srgbClr val="65B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3502152"/>
            <a:ext cx="109728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25880" y="3483864"/>
            <a:ext cx="1353312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</a:rPr>
              <a:t>商务信息同步不足</a:t>
            </a:r>
            <a:endParaRPr sz="125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16352" y="3364992"/>
            <a:ext cx="22402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商务条款与回收要求未形成统一书面同步，存在跨部门信息断点。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21808" y="3364992"/>
            <a:ext cx="40690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销售与商务共同确认关键事项，客户反馈5个工作日内闭环，逾期升级。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85800" y="4023360"/>
            <a:ext cx="8997696" cy="822960"/>
          </a:xfrm>
          <a:prstGeom prst="rect">
            <a:avLst/>
          </a:prstGeom>
          <a:solidFill>
            <a:srgbClr val="F9FCFE"/>
          </a:solidFill>
          <a:ln w="635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670048" y="402336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84648" y="4023360"/>
            <a:ext cx="9144" cy="822960"/>
          </a:xfrm>
          <a:prstGeom prst="rect">
            <a:avLst/>
          </a:prstGeom>
          <a:solidFill>
            <a:srgbClr val="BD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22960" y="4288536"/>
            <a:ext cx="274320" cy="274320"/>
          </a:xfrm>
          <a:prstGeom prst="ellipse">
            <a:avLst/>
          </a:prstGeom>
          <a:solidFill>
            <a:srgbClr val="65B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325112"/>
            <a:ext cx="109728" cy="10972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1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25880" y="4306824"/>
            <a:ext cx="1353312" cy="31089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F2937"/>
                </a:solidFill>
                <a:latin typeface="微软雅黑" panose="020B0503020204020204" charset="-122"/>
              </a:rPr>
              <a:t>异常响应不够及时</a:t>
            </a:r>
            <a:endParaRPr sz="125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16352" y="4187952"/>
            <a:ext cx="22402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发现空桶进入处置流程后，缺少快速联动机制和责任边界。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21808" y="4187952"/>
            <a:ext cx="4069080" cy="5760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1F2937"/>
                </a:solidFill>
                <a:latin typeface="微软雅黑" panose="020B0503020204020204" charset="-122"/>
              </a:rPr>
              <a:t>建立异常升级机制，联动商务、客户仓库及相关部门及时处置。</a:t>
            </a:r>
            <a:endParaRPr sz="10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912096" y="1152144"/>
            <a:ext cx="1490472" cy="331012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1389888"/>
            <a:ext cx="658368" cy="80467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0241280" y="2350008"/>
            <a:ext cx="804672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004171"/>
                </a:solidFill>
                <a:latin typeface="微软雅黑" panose="020B0503020204020204" charset="-122"/>
              </a:rPr>
              <a:t>事实总结</a:t>
            </a:r>
            <a:endParaRPr sz="1400" b="1">
              <a:solidFill>
                <a:srgbClr val="004171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85832" y="2697480"/>
            <a:ext cx="1143000" cy="93268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</a:rPr>
              <a:t>44个空桶报废</a:t>
            </a:r>
            <a:endParaRPr sz="12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</a:rPr>
              <a:t>8万元直接损失</a:t>
            </a:r>
            <a:endParaRPr sz="120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1F2937"/>
                </a:solidFill>
                <a:latin typeface="微软雅黑" panose="020B0503020204020204" charset="-122"/>
              </a:rPr>
              <a:t>整改重点转向流程闭环与部门协同</a:t>
            </a:r>
            <a:endParaRPr sz="12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685800" y="4965192"/>
            <a:ext cx="10698480" cy="7040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4400" y="5184648"/>
            <a:ext cx="914400" cy="329184"/>
          </a:xfrm>
          <a:prstGeom prst="round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核心调整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057400" y="5138928"/>
            <a:ext cx="8823960" cy="40233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1F2937"/>
                </a:solidFill>
                <a:latin typeface="微软雅黑" panose="020B0503020204020204" charset="-122"/>
              </a:rPr>
              <a:t>不再强化“个人严重失职”表述，改为“风险识别不足、节点预判不足、协同机制不足”，并以流程机制补强作为整改主线。</a:t>
            </a:r>
            <a:endParaRPr sz="15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310896" cy="420624"/>
          </a:xfrm>
          <a:prstGeom prst="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365760"/>
            <a:ext cx="137160" cy="420624"/>
          </a:xfrm>
          <a:prstGeom prst="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676656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2937"/>
                </a:solidFill>
                <a:latin typeface="微软雅黑" panose="020B0503020204020204" charset="-122"/>
              </a:rPr>
              <a:t>客户反馈补充证据与整改闭环</a:t>
            </a:r>
            <a:endParaRPr sz="20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92608"/>
            <a:ext cx="1143000" cy="372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6556248"/>
            <a:ext cx="292608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7"/>
                </a:solidFill>
                <a:latin typeface="微软雅黑" panose="020B0503020204020204" charset="-122"/>
              </a:rPr>
              <a:t>版权所有 © 2025 Capchem. All Rights Reserved.</a:t>
            </a:r>
            <a:endParaRPr sz="8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27248" y="6620256"/>
            <a:ext cx="8046720" cy="9144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28832" y="6437376"/>
            <a:ext cx="146304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5D6570"/>
                </a:solidFill>
                <a:latin typeface="微软雅黑" panose="020B0503020204020204" charset="-122"/>
              </a:rPr>
              <a:t>7</a:t>
            </a:r>
            <a:endParaRPr sz="85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94360" y="1161288"/>
            <a:ext cx="4050791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353312"/>
            <a:ext cx="941832" cy="320040"/>
          </a:xfrm>
          <a:prstGeom prst="roundRect">
            <a:avLst/>
          </a:prstGeom>
          <a:solidFill>
            <a:srgbClr val="65B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证据 01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1957070"/>
            <a:ext cx="3623310" cy="36639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4月22日：报价阶段已明确风险条款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2304288"/>
            <a:ext cx="3383280" cy="62179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D6570"/>
                </a:solidFill>
                <a:latin typeface="微软雅黑" panose="020B0503020204020204" charset="-122"/>
              </a:rPr>
              <a:t>报价单备注已提示包装桶妥善保管及丢失赔偿要求，说明风险条款存在，但未进入后续发货、测试、回收执行闭环。</a:t>
            </a:r>
            <a:endParaRPr sz="120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05840" y="3090672"/>
            <a:ext cx="3246120" cy="11430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ap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3200400"/>
            <a:ext cx="2697480" cy="227223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29200" y="1161415"/>
            <a:ext cx="6965950" cy="170751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9512" y="1362456"/>
            <a:ext cx="932688" cy="320040"/>
          </a:xfrm>
          <a:prstGeom prst="roundRect">
            <a:avLst/>
          </a:prstGeom>
          <a:solidFill>
            <a:srgbClr val="65B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证据 02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5月18日：首次沟通空桶回收安排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56860" y="1755775"/>
            <a:ext cx="4537075" cy="38798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D6570"/>
                </a:solidFill>
                <a:latin typeface="微软雅黑" panose="020B0503020204020204" charset="-122"/>
              </a:rPr>
              <a:t>客户反馈“送货时带回”，说明沟通确实发生，但节点</a:t>
            </a:r>
            <a:endParaRPr sz="1150" b="0">
              <a:solidFill>
                <a:srgbClr val="5D6570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5D6570"/>
                </a:solidFill>
                <a:latin typeface="微软雅黑" panose="020B0503020204020204" charset="-122"/>
              </a:rPr>
              <a:t>已偏晚，未形成发货前锁定与回收确认。</a:t>
            </a:r>
            <a:endParaRPr sz="115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pic>
        <p:nvPicPr>
          <p:cNvPr id="21" name="Picture 20" descr="shape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4370" y="2143760"/>
            <a:ext cx="3494405" cy="73025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029200" y="2948305"/>
            <a:ext cx="6932295" cy="16078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9512" y="3154680"/>
            <a:ext cx="932688" cy="320040"/>
          </a:xfrm>
          <a:prstGeom prst="roundRect">
            <a:avLst/>
          </a:prstGeom>
          <a:solidFill>
            <a:srgbClr val="65B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证据 03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3209544"/>
            <a:ext cx="3566160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F2937"/>
                </a:solidFill>
                <a:latin typeface="微软雅黑" panose="020B0503020204020204" charset="-122"/>
              </a:rPr>
              <a:t>5月21日：确认已处理且无法追回</a:t>
            </a:r>
            <a:endParaRPr sz="17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56860" y="3547745"/>
            <a:ext cx="3820795" cy="732155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D6570"/>
                </a:solidFill>
                <a:latin typeface="微软雅黑" panose="020B0503020204020204" charset="-122"/>
              </a:rPr>
              <a:t>客户反馈仓库已处理、空桶追不回，最终形成44个空桶</a:t>
            </a:r>
            <a:endParaRPr sz="1150" b="0">
              <a:solidFill>
                <a:srgbClr val="5D6570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1150" b="0">
                <a:solidFill>
                  <a:srgbClr val="5D6570"/>
                </a:solidFill>
                <a:latin typeface="微软雅黑" panose="020B0503020204020204" charset="-122"/>
              </a:rPr>
              <a:t>报废及8万元直接损失。</a:t>
            </a:r>
            <a:endParaRPr sz="115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pic>
        <p:nvPicPr>
          <p:cNvPr id="27" name="Picture 26" descr="shape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0425" y="3795395"/>
            <a:ext cx="3308985" cy="79248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594360" y="5029200"/>
            <a:ext cx="10753344" cy="777240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" y="5257800"/>
            <a:ext cx="969264" cy="329184"/>
          </a:xfrm>
          <a:prstGeom prst="round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复盘结论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39112" y="5184648"/>
            <a:ext cx="8979408" cy="43891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937"/>
                </a:solidFill>
                <a:latin typeface="微软雅黑" panose="020B0503020204020204" charset="-122"/>
              </a:rPr>
              <a:t>本次问题不是“没有沟通”，而是风险条款未进入执行闭环，且沟通节点明显滞后。整改重点由“事后询问”前移为“发货前确权、测试中跟踪、测试后限时回收”。</a:t>
            </a:r>
            <a:endParaRPr sz="140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310896" cy="420624"/>
          </a:xfrm>
          <a:prstGeom prst="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365760"/>
            <a:ext cx="137160" cy="420624"/>
          </a:xfrm>
          <a:prstGeom prst="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76656" y="457200"/>
            <a:ext cx="6766560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F2937"/>
                </a:solidFill>
                <a:latin typeface="微软雅黑" panose="020B0503020204020204" charset="-122"/>
              </a:rPr>
              <a:t>五、复盘总结</a:t>
            </a:r>
            <a:endParaRPr sz="2000" b="1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368" y="758571"/>
            <a:ext cx="7863840" cy="1549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endParaRPr sz="85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image1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2" y="292608"/>
            <a:ext cx="1143000" cy="372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6556248"/>
            <a:ext cx="2926080" cy="1280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1F2937"/>
                </a:solidFill>
                <a:latin typeface="微软雅黑" panose="020B0503020204020204" charset="-122"/>
              </a:rPr>
              <a:t>版权所有 © 2025 Capchem. All Rights Reserved.</a:t>
            </a:r>
            <a:endParaRPr sz="85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27248" y="6620256"/>
            <a:ext cx="8046720" cy="9144"/>
          </a:xfrm>
          <a:prstGeom prst="rect">
            <a:avLst/>
          </a:prstGeom>
          <a:solidFill>
            <a:srgbClr val="7D7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28832" y="6437376"/>
            <a:ext cx="146304" cy="1463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0">
                <a:solidFill>
                  <a:srgbClr val="5D6570"/>
                </a:solidFill>
                <a:latin typeface="微软雅黑" panose="020B0503020204020204" charset="-122"/>
              </a:rPr>
              <a:t>8</a:t>
            </a:r>
            <a:endParaRPr sz="850" b="0">
              <a:solidFill>
                <a:srgbClr val="5D6570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1143000"/>
            <a:ext cx="2039112" cy="3584448"/>
          </a:xfrm>
          <a:prstGeom prst="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234440"/>
            <a:ext cx="1783080" cy="1107301"/>
          </a:xfrm>
          <a:prstGeom prst="rect">
            <a:avLst/>
          </a:prstGeom>
        </p:spPr>
      </p:pic>
      <p:pic>
        <p:nvPicPr>
          <p:cNvPr id="12" name="Picture 11" descr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441448"/>
            <a:ext cx="1783080" cy="12375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22376" y="3840480"/>
            <a:ext cx="1783080" cy="7955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815" y="4041775"/>
            <a:ext cx="1564005" cy="436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4171"/>
                </a:solidFill>
                <a:latin typeface="微软雅黑" panose="020B0503020204020204" charset="-122"/>
              </a:rPr>
              <a:t>复盘反思 · 明确问题</a:t>
            </a:r>
            <a:endParaRPr sz="1300" b="1">
              <a:solidFill>
                <a:srgbClr val="004171"/>
              </a:solidFill>
              <a:latin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04171"/>
                </a:solidFill>
                <a:latin typeface="微软雅黑" panose="020B0503020204020204" charset="-122"/>
              </a:rPr>
              <a:t>总结改进 · 持续优化</a:t>
            </a:r>
            <a:endParaRPr sz="1300" b="1">
              <a:solidFill>
                <a:srgbClr val="00417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898648" y="1143000"/>
            <a:ext cx="8449056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90672" y="1399032"/>
            <a:ext cx="475488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481328"/>
            <a:ext cx="292608" cy="33162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13048" y="1325880"/>
            <a:ext cx="2834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4171"/>
                </a:solidFill>
                <a:latin typeface="微软雅黑" panose="020B0503020204020204" charset="-122"/>
              </a:rPr>
              <a:t>后续工作计划</a:t>
            </a:r>
            <a:endParaRPr sz="1600" b="1">
              <a:solidFill>
                <a:srgbClr val="004171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13048" y="1618488"/>
            <a:ext cx="7360920" cy="603504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70" b="0">
                <a:solidFill>
                  <a:srgbClr val="1F2937"/>
                </a:solidFill>
                <a:latin typeface="微软雅黑" panose="020B0503020204020204" charset="-122"/>
              </a:rPr>
              <a:t>1. 三季度大批量测试前，完成客户采购、厂务、仓库三方对接及邮件确权。</a:t>
            </a:r>
            <a:endParaRPr sz="107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1070" b="0">
                <a:solidFill>
                  <a:srgbClr val="1F2937"/>
                </a:solidFill>
                <a:latin typeface="微软雅黑" panose="020B0503020204020204" charset="-122"/>
              </a:rPr>
              <a:t>2. 发货前锁定空桶暂存、回收窗口、赔付条款和客户对接人。</a:t>
            </a:r>
            <a:endParaRPr sz="107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1070" b="0">
                <a:solidFill>
                  <a:srgbClr val="1F2937"/>
                </a:solidFill>
                <a:latin typeface="微软雅黑" panose="020B0503020204020204" charset="-122"/>
              </a:rPr>
              <a:t>3. 测试期间建立节点台账，测试后3个工作日内核对空桶状态。</a:t>
            </a:r>
            <a:endParaRPr sz="1070" b="0">
              <a:solidFill>
                <a:srgbClr val="1F2937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1070" b="0">
                <a:solidFill>
                  <a:srgbClr val="1F2937"/>
                </a:solidFill>
                <a:latin typeface="微软雅黑" panose="020B0503020204020204" charset="-122"/>
              </a:rPr>
              <a:t>4. 关键事项发出后5个工作日内需取得客户回复，逾期联动商务升级。</a:t>
            </a:r>
            <a:endParaRPr sz="107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898648" y="2514600"/>
            <a:ext cx="844905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90672" y="2770632"/>
            <a:ext cx="475488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2852928"/>
            <a:ext cx="292608" cy="3098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813048" y="2697480"/>
            <a:ext cx="2834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4171"/>
                </a:solidFill>
                <a:latin typeface="微软雅黑" panose="020B0503020204020204" charset="-122"/>
              </a:rPr>
              <a:t>复盘反思</a:t>
            </a:r>
            <a:endParaRPr sz="1600" b="1">
              <a:solidFill>
                <a:srgbClr val="004171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13048" y="2990088"/>
            <a:ext cx="7360920" cy="5120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F2937"/>
                </a:solidFill>
                <a:latin typeface="微软雅黑" panose="020B0503020204020204" charset="-122"/>
              </a:rPr>
              <a:t>本次问题暴露出本人对测试空桶回收风险识别不充分，对客户回收节点和内部协同机制预判不足，导致跟进节奏滞后。因以往测试较少涉及空桶回收要求，本人沿用既有测试经验，对本次特殊风险节点识别不足。</a:t>
            </a:r>
            <a:endParaRPr sz="113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898648" y="3794760"/>
            <a:ext cx="8449056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0672" y="4050792"/>
            <a:ext cx="475488" cy="475488"/>
          </a:xfrm>
          <a:prstGeom prst="roundRect">
            <a:avLst/>
          </a:prstGeom>
          <a:solidFill>
            <a:srgbClr val="F4F9FC"/>
          </a:solidFill>
          <a:ln w="12700">
            <a:solidFill>
              <a:srgbClr val="BD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112" y="4133088"/>
            <a:ext cx="292608" cy="2035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13048" y="3977640"/>
            <a:ext cx="2834640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04171"/>
                </a:solidFill>
                <a:latin typeface="微软雅黑" panose="020B0503020204020204" charset="-122"/>
              </a:rPr>
              <a:t>商务协同与损失挽回</a:t>
            </a:r>
            <a:endParaRPr sz="1600" b="1">
              <a:solidFill>
                <a:srgbClr val="004171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13048" y="4270248"/>
            <a:ext cx="7360920" cy="512063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F2937"/>
                </a:solidFill>
                <a:latin typeface="微软雅黑" panose="020B0503020204020204" charset="-122"/>
              </a:rPr>
              <a:t>后续由销售牵头、商务协同，将回收要求和客户反馈时限纳入工作机制。结合三季度大批量测试推进，通过价格策略优化、商务条款调整等方式，争取逐步抵回本次8万元空桶损失。</a:t>
            </a:r>
            <a:endParaRPr sz="113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898648" y="4919472"/>
            <a:ext cx="8449056" cy="786384"/>
          </a:xfrm>
          <a:prstGeom prst="roundRect">
            <a:avLst/>
          </a:prstGeom>
          <a:solidFill>
            <a:srgbClr val="FFF9EC"/>
          </a:solidFill>
          <a:ln w="12700">
            <a:solidFill>
              <a:srgbClr val="E4B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127248" y="5166360"/>
            <a:ext cx="1005840" cy="329184"/>
          </a:xfrm>
          <a:prstGeom prst="roundRect">
            <a:avLst/>
          </a:prstGeom>
          <a:solidFill>
            <a:srgbClr val="004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表述口径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43400" y="5102352"/>
            <a:ext cx="662940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20" b="0">
                <a:solidFill>
                  <a:srgbClr val="1F2937"/>
                </a:solidFill>
                <a:latin typeface="微软雅黑" panose="020B0503020204020204" charset="-122"/>
              </a:rPr>
              <a:t>承认识别不足与跟进滞后，但避免过度个人化；整改落点放在流程闭环、部门协同、节点审核和商务挽回。</a:t>
            </a:r>
            <a:endParaRPr sz="1420" b="0">
              <a:solidFill>
                <a:srgbClr val="1F293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1189</Words>
  <Application>WPS 演示</Application>
  <PresentationFormat>On-screen Show (4:3)</PresentationFormat>
  <Paragraphs>112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</cp:lastModifiedBy>
  <cp:revision>2</cp:revision>
  <dcterms:created xsi:type="dcterms:W3CDTF">2013-01-27T09:14:00Z</dcterms:created>
  <dcterms:modified xsi:type="dcterms:W3CDTF">2026-06-05T10:18:40Z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4A909C5EA3D947A89BF537A3E4F08335_12</vt:lpwstr>
  </property>
</Properties>
</file>